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4668"/>
  </p:normalViewPr>
  <p:slideViewPr>
    <p:cSldViewPr snapToGrid="0">
      <p:cViewPr varScale="1">
        <p:scale>
          <a:sx n="119" d="100"/>
          <a:sy n="119" d="100"/>
        </p:scale>
        <p:origin x="2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24FB0-3BBD-434F-8E56-C68512207AF6}" type="datetimeFigureOut">
              <a:rPr lang="en-UG" smtClean="0"/>
              <a:t>25/04/2026</a:t>
            </a:fld>
            <a:endParaRPr lang="en-U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60C1A-FE86-2D48-BB9D-642812206138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5518005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24FB0-3BBD-434F-8E56-C68512207AF6}" type="datetimeFigureOut">
              <a:rPr lang="en-UG" smtClean="0"/>
              <a:t>25/04/2026</a:t>
            </a:fld>
            <a:endParaRPr lang="en-U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60C1A-FE86-2D48-BB9D-642812206138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87912553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24FB0-3BBD-434F-8E56-C68512207AF6}" type="datetimeFigureOut">
              <a:rPr lang="en-UG" smtClean="0"/>
              <a:t>25/04/2026</a:t>
            </a:fld>
            <a:endParaRPr lang="en-U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60C1A-FE86-2D48-BB9D-642812206138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1897628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24FB0-3BBD-434F-8E56-C68512207AF6}" type="datetimeFigureOut">
              <a:rPr lang="en-UG" smtClean="0"/>
              <a:t>25/04/2026</a:t>
            </a:fld>
            <a:endParaRPr lang="en-UG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60C1A-FE86-2D48-BB9D-642812206138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40262736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24FB0-3BBD-434F-8E56-C68512207AF6}" type="datetimeFigureOut">
              <a:rPr lang="en-UG" smtClean="0"/>
              <a:t>25/04/2026</a:t>
            </a:fld>
            <a:endParaRPr lang="en-U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60C1A-FE86-2D48-BB9D-642812206138}" type="slidenum">
              <a:rPr lang="en-UG" smtClean="0"/>
              <a:t>‹#›</a:t>
            </a:fld>
            <a:endParaRPr lang="en-UG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34114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24FB0-3BBD-434F-8E56-C68512207AF6}" type="datetimeFigureOut">
              <a:rPr lang="en-UG" smtClean="0"/>
              <a:t>25/04/2026</a:t>
            </a:fld>
            <a:endParaRPr lang="en-U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60C1A-FE86-2D48-BB9D-642812206138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03508624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24FB0-3BBD-434F-8E56-C68512207AF6}" type="datetimeFigureOut">
              <a:rPr lang="en-UG" smtClean="0"/>
              <a:t>25/04/2026</a:t>
            </a:fld>
            <a:endParaRPr lang="en-U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60C1A-FE86-2D48-BB9D-642812206138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68987075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24FB0-3BBD-434F-8E56-C68512207AF6}" type="datetimeFigureOut">
              <a:rPr lang="en-UG" smtClean="0"/>
              <a:t>25/04/2026</a:t>
            </a:fld>
            <a:endParaRPr lang="en-UG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G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60C1A-FE86-2D48-BB9D-642812206138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05001458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5424FB0-3BBD-434F-8E56-C68512207AF6}" type="datetimeFigureOut">
              <a:rPr lang="en-UG" smtClean="0"/>
              <a:t>25/04/2026</a:t>
            </a:fld>
            <a:endParaRPr lang="en-UG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G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60C1A-FE86-2D48-BB9D-642812206138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90320042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24FB0-3BBD-434F-8E56-C68512207AF6}" type="datetimeFigureOut">
              <a:rPr lang="en-UG" smtClean="0"/>
              <a:t>25/04/2026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60C1A-FE86-2D48-BB9D-642812206138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10122297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24FB0-3BBD-434F-8E56-C68512207AF6}" type="datetimeFigureOut">
              <a:rPr lang="en-UG" smtClean="0"/>
              <a:t>25/04/2026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60C1A-FE86-2D48-BB9D-642812206138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54390322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05424FB0-3BBD-434F-8E56-C68512207AF6}" type="datetimeFigureOut">
              <a:rPr lang="en-UG" smtClean="0"/>
              <a:t>25/04/2026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2CD60C1A-FE86-2D48-BB9D-642812206138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48173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958A2-A774-4401-6042-C95F010FD3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Financial Consumer Complaints Analysis</a:t>
            </a:r>
            <a:endParaRPr lang="en-U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BA6C20-6E91-9F0F-B0E8-7F1D1E35F6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G" dirty="0"/>
              <a:t>PATRICIA MUGABE</a:t>
            </a:r>
          </a:p>
          <a:p>
            <a:r>
              <a:rPr lang="en-UG" dirty="0"/>
              <a:t>APRIL, 2026</a:t>
            </a:r>
          </a:p>
        </p:txBody>
      </p:sp>
    </p:spTree>
    <p:extLst>
      <p:ext uri="{BB962C8B-B14F-4D97-AF65-F5344CB8AC3E}">
        <p14:creationId xmlns:p14="http://schemas.microsoft.com/office/powerpoint/2010/main" val="358916653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81773-6E4E-0C76-3624-3119183D6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Objective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120E8-039B-BA07-02A1-B29B1FD39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What was this analysis about?</a:t>
            </a:r>
            <a:br>
              <a:rPr lang="en-GB" dirty="0"/>
            </a:br>
            <a:endParaRPr lang="en-GB" dirty="0"/>
          </a:p>
          <a:p>
            <a:pPr marL="0" indent="0">
              <a:buNone/>
            </a:pPr>
            <a:r>
              <a:rPr lang="en-GB" dirty="0"/>
              <a:t>To analyse consumer complaint data in order to identify key trends, evaluate resolution effectiveness, and uncover drivers of customer dissatisfaction to support service improvement strategies.</a:t>
            </a:r>
          </a:p>
          <a:p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0944066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B73FB-D599-0A00-B247-2A9ED7D7F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Dataset Overview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A2FEB-BD03-EE41-58CB-FDDE331FFE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Total complaints analysed: </a:t>
            </a:r>
            <a:r>
              <a:rPr lang="en-GB" b="1" dirty="0"/>
              <a:t>75,513</a:t>
            </a:r>
            <a:endParaRPr lang="en-GB" dirty="0"/>
          </a:p>
          <a:p>
            <a:r>
              <a:rPr lang="en-GB" dirty="0"/>
              <a:t>Time period: </a:t>
            </a:r>
            <a:r>
              <a:rPr lang="en-GB" b="1" dirty="0"/>
              <a:t>2011 – 2020</a:t>
            </a:r>
            <a:endParaRPr lang="en-GB" dirty="0"/>
          </a:p>
          <a:p>
            <a:r>
              <a:rPr lang="en-GB" dirty="0"/>
              <a:t>Data sources:</a:t>
            </a:r>
          </a:p>
          <a:p>
            <a:pPr lvl="1"/>
            <a:r>
              <a:rPr lang="en-GB" dirty="0"/>
              <a:t>Complaints data</a:t>
            </a:r>
          </a:p>
          <a:p>
            <a:pPr lvl="1"/>
            <a:r>
              <a:rPr lang="en-GB" dirty="0"/>
              <a:t>Products &amp; Issues tables</a:t>
            </a:r>
          </a:p>
          <a:p>
            <a:r>
              <a:rPr lang="en-GB" dirty="0"/>
              <a:t>Key dimensions:</a:t>
            </a:r>
          </a:p>
          <a:p>
            <a:pPr lvl="1"/>
            <a:r>
              <a:rPr lang="en-GB" dirty="0"/>
              <a:t>Product, Issue, Channel, State, Response Type</a:t>
            </a:r>
          </a:p>
        </p:txBody>
      </p:sp>
    </p:spTree>
    <p:extLst>
      <p:ext uri="{BB962C8B-B14F-4D97-AF65-F5344CB8AC3E}">
        <p14:creationId xmlns:p14="http://schemas.microsoft.com/office/powerpoint/2010/main" val="251967390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D23BE-EDF9-ADC4-1341-18E6BA0AF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94536"/>
            <a:ext cx="7729728" cy="1188720"/>
          </a:xfrm>
        </p:spPr>
        <p:txBody>
          <a:bodyPr/>
          <a:lstStyle/>
          <a:p>
            <a:r>
              <a:rPr lang="en-GB" b="1" dirty="0"/>
              <a:t>Dashboard Overview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438F1-9197-D5F6-1240-EF1D6F17F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4254"/>
            <a:ext cx="10515600" cy="4571122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Interactive dashboard built to track complaint trends, resolution performance, and customer satisfaction indicators.</a:t>
            </a:r>
          </a:p>
          <a:p>
            <a:endParaRPr lang="en-U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6C6D81-0BEB-D544-23F7-02D9D6719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779" y="2399212"/>
            <a:ext cx="8109284" cy="393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95759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CC3EB-64B6-1FAB-9B8B-16F6DEA05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Complaint Trends Over Time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F9BF4-FF5A-9877-0688-47E4B6E8A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Key Insight:</a:t>
            </a:r>
            <a:endParaRPr lang="en-GB" dirty="0"/>
          </a:p>
          <a:p>
            <a:pPr lvl="1"/>
            <a:r>
              <a:rPr lang="en-GB" dirty="0"/>
              <a:t>Complaints increased significantly from 2011 to 2018, peaking at ~11,450</a:t>
            </a:r>
          </a:p>
          <a:p>
            <a:pPr lvl="1"/>
            <a:r>
              <a:rPr lang="en-GB" dirty="0"/>
              <a:t>Remain consistently high afterward</a:t>
            </a:r>
          </a:p>
          <a:p>
            <a:pPr marL="0" indent="0">
              <a:buNone/>
            </a:pPr>
            <a:r>
              <a:rPr lang="en-GB" b="1" dirty="0"/>
              <a:t>So what:</a:t>
            </a:r>
            <a:endParaRPr lang="en-GB" dirty="0"/>
          </a:p>
          <a:p>
            <a:pPr lvl="1"/>
            <a:r>
              <a:rPr lang="en-GB" dirty="0"/>
              <a:t>Complaint growth indicates increasing service pressure and potential systemic issues.</a:t>
            </a:r>
          </a:p>
        </p:txBody>
      </p:sp>
    </p:spTree>
    <p:extLst>
      <p:ext uri="{BB962C8B-B14F-4D97-AF65-F5344CB8AC3E}">
        <p14:creationId xmlns:p14="http://schemas.microsoft.com/office/powerpoint/2010/main" val="141349626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40DB7-3318-2817-7270-97537E9BC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High-Complaint Products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48DEF-B933-2A10-C02A-555CE8842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Credit Card: </a:t>
            </a:r>
            <a:r>
              <a:rPr lang="en-GB" b="1" dirty="0"/>
              <a:t>19,176</a:t>
            </a:r>
            <a:endParaRPr lang="en-GB" dirty="0"/>
          </a:p>
          <a:p>
            <a:r>
              <a:rPr lang="en-GB" dirty="0"/>
              <a:t>Checking/Savings: </a:t>
            </a:r>
            <a:r>
              <a:rPr lang="en-GB" b="1" dirty="0"/>
              <a:t>13,436</a:t>
            </a:r>
            <a:endParaRPr lang="en-GB" dirty="0"/>
          </a:p>
          <a:p>
            <a:r>
              <a:rPr lang="en-GB" dirty="0"/>
              <a:t>Mortgage: </a:t>
            </a:r>
            <a:r>
              <a:rPr lang="en-GB" b="1" dirty="0"/>
              <a:t>12,470</a:t>
            </a:r>
            <a:endParaRPr lang="en-GB" dirty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Insight:</a:t>
            </a:r>
            <a:endParaRPr lang="en-GB" dirty="0"/>
          </a:p>
          <a:p>
            <a:r>
              <a:rPr lang="en-GB" dirty="0"/>
              <a:t>Core financial products drive the majority of complaints.</a:t>
            </a:r>
          </a:p>
          <a:p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310082651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B45D5-2CAC-EC93-1D8E-6E814808D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Top Customer Issues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34223-E565-957A-B6C1-C18B70CF3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Top drivers:</a:t>
            </a:r>
          </a:p>
          <a:p>
            <a:pPr lvl="1"/>
            <a:r>
              <a:rPr lang="en-GB" dirty="0"/>
              <a:t>Managing account</a:t>
            </a:r>
          </a:p>
          <a:p>
            <a:pPr lvl="1"/>
            <a:r>
              <a:rPr lang="en-GB" dirty="0"/>
              <a:t>Deposits &amp; withdrawals</a:t>
            </a:r>
          </a:p>
          <a:p>
            <a:pPr lvl="1"/>
            <a:r>
              <a:rPr lang="en-GB" dirty="0"/>
              <a:t>Payment difficulties</a:t>
            </a:r>
          </a:p>
          <a:p>
            <a:pPr marL="457200" lvl="1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Insight:</a:t>
            </a:r>
          </a:p>
          <a:p>
            <a:pPr lvl="1"/>
            <a:r>
              <a:rPr lang="en-GB" dirty="0"/>
              <a:t>Most complaints relate to money access, transactions, and account control </a:t>
            </a:r>
          </a:p>
          <a:p>
            <a:pPr marL="0" indent="0">
              <a:buNone/>
            </a:pP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251378221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5567A-52B0-1193-5E43-A036923AB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Resolution Performance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5AECE-750A-A5C6-0FAB-7AB88A764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98% timely responses</a:t>
            </a:r>
          </a:p>
          <a:p>
            <a:r>
              <a:rPr lang="en-GB" dirty="0"/>
              <a:t>~10% disputed complaints</a:t>
            </a:r>
          </a:p>
          <a:p>
            <a:r>
              <a:rPr lang="en-GB" dirty="0"/>
              <a:t>49% dispute status unknown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Critical Insight:</a:t>
            </a:r>
            <a:endParaRPr lang="en-GB" dirty="0"/>
          </a:p>
          <a:p>
            <a:pPr lvl="1"/>
            <a:r>
              <a:rPr lang="en-GB" dirty="0"/>
              <a:t>High responsiveness does not translate into customer satisfaction.</a:t>
            </a:r>
          </a:p>
          <a:p>
            <a:pPr lvl="1"/>
            <a:r>
              <a:rPr lang="en-GB" dirty="0"/>
              <a:t>Speed ≠ Satisfaction </a:t>
            </a:r>
          </a:p>
          <a:p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389415953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625B9-7101-50AB-45AB-8C8AF4757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Response Type vs Disputes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7D854-3370-11C1-AD84-A9354C332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Key Findings:</a:t>
            </a:r>
            <a:endParaRPr lang="en-GB" dirty="0"/>
          </a:p>
          <a:p>
            <a:pPr lvl="1"/>
            <a:r>
              <a:rPr lang="en-GB" dirty="0"/>
              <a:t>“Closed with explanation” → highest disputes</a:t>
            </a:r>
          </a:p>
          <a:p>
            <a:pPr lvl="1"/>
            <a:r>
              <a:rPr lang="en-GB" dirty="0"/>
              <a:t>“Monetary relief” → lowest disputes</a:t>
            </a:r>
          </a:p>
          <a:p>
            <a:pPr lvl="1"/>
            <a:r>
              <a:rPr lang="en-GB" dirty="0"/>
              <a:t>“No relief” → high dissatisfaction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Insight:</a:t>
            </a:r>
            <a:endParaRPr lang="en-GB" dirty="0"/>
          </a:p>
          <a:p>
            <a:r>
              <a:rPr lang="en-GB" dirty="0"/>
              <a:t>Customers respond better to solutions than explanations </a:t>
            </a:r>
          </a:p>
        </p:txBody>
      </p:sp>
    </p:spTree>
    <p:extLst>
      <p:ext uri="{BB962C8B-B14F-4D97-AF65-F5344CB8AC3E}">
        <p14:creationId xmlns:p14="http://schemas.microsoft.com/office/powerpoint/2010/main" val="336441950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48625-A55D-396F-ED69-CC1D801C0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Channel Insights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C1D68-6ADF-0877-EE11-D9C042941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Web: highest complaint volume</a:t>
            </a:r>
          </a:p>
          <a:p>
            <a:r>
              <a:rPr lang="en-GB" dirty="0"/>
              <a:t>Referral: highest dispute proportion</a:t>
            </a:r>
          </a:p>
          <a:p>
            <a:endParaRPr lang="en-GB" b="1" dirty="0"/>
          </a:p>
          <a:p>
            <a:pPr marL="0" indent="0">
              <a:buNone/>
            </a:pPr>
            <a:r>
              <a:rPr lang="en-GB" b="1" dirty="0"/>
              <a:t>Insight:</a:t>
            </a:r>
            <a:endParaRPr lang="en-GB" dirty="0"/>
          </a:p>
          <a:p>
            <a:r>
              <a:rPr lang="en-GB" dirty="0"/>
              <a:t>Referral complaints are likely escalated and more complex cases. </a:t>
            </a:r>
          </a:p>
          <a:p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66138797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1DDA5-69F8-4DE2-D5F6-A79F4096C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Key Problem Areas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BE862-791A-84A2-DC9F-AFDD41F026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High complaints in core products (credit cards, accounts)</a:t>
            </a:r>
          </a:p>
          <a:p>
            <a:r>
              <a:rPr lang="en-GB" dirty="0"/>
              <a:t>Transaction-related issues dominate</a:t>
            </a:r>
          </a:p>
          <a:p>
            <a:r>
              <a:rPr lang="en-GB" dirty="0"/>
              <a:t>Over-reliance on explanation-based resolutions</a:t>
            </a:r>
          </a:p>
          <a:p>
            <a:r>
              <a:rPr lang="en-GB" dirty="0"/>
              <a:t>High dispute levels in escalated complaints</a:t>
            </a:r>
          </a:p>
          <a:p>
            <a:r>
              <a:rPr lang="en-GB" dirty="0"/>
              <a:t>Significant data gaps (unknown dispute status)</a:t>
            </a:r>
          </a:p>
        </p:txBody>
      </p:sp>
    </p:spTree>
    <p:extLst>
      <p:ext uri="{BB962C8B-B14F-4D97-AF65-F5344CB8AC3E}">
        <p14:creationId xmlns:p14="http://schemas.microsoft.com/office/powerpoint/2010/main" val="54035287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69EFB-8815-51BE-18C3-FF780C61B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Recommendations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9D30A-6BB9-FAEF-4180-66B885642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1. Improve Resolution Quality</a:t>
            </a:r>
          </a:p>
          <a:p>
            <a:pPr lvl="1"/>
            <a:r>
              <a:rPr lang="en-GB" dirty="0"/>
              <a:t>Reduce reliance on “explanation-only” responses</a:t>
            </a:r>
          </a:p>
          <a:p>
            <a:pPr lvl="1"/>
            <a:r>
              <a:rPr lang="en-GB" dirty="0"/>
              <a:t>Increase use of actionable resolutions (e.g., relief)</a:t>
            </a:r>
            <a:br>
              <a:rPr lang="en-GB" dirty="0"/>
            </a:br>
            <a:endParaRPr lang="en-GB" dirty="0"/>
          </a:p>
          <a:p>
            <a:pPr marL="0" indent="0">
              <a:buNone/>
            </a:pPr>
            <a:r>
              <a:rPr lang="en-GB" b="1" dirty="0"/>
              <a:t>2. Focus on High-Risk Issues</a:t>
            </a:r>
          </a:p>
          <a:p>
            <a:pPr lvl="1"/>
            <a:r>
              <a:rPr lang="en-GB" dirty="0"/>
              <a:t>Prioritize:</a:t>
            </a:r>
          </a:p>
          <a:p>
            <a:pPr lvl="2"/>
            <a:r>
              <a:rPr lang="en-GB" dirty="0"/>
              <a:t>Account management</a:t>
            </a:r>
          </a:p>
          <a:p>
            <a:pPr lvl="2"/>
            <a:r>
              <a:rPr lang="en-GB" dirty="0"/>
              <a:t>Deposits &amp; withdrawals</a:t>
            </a:r>
          </a:p>
          <a:p>
            <a:pPr lvl="1"/>
            <a:r>
              <a:rPr lang="en-GB" dirty="0"/>
              <a:t>Create specialized resolution teams</a:t>
            </a:r>
          </a:p>
        </p:txBody>
      </p:sp>
    </p:spTree>
    <p:extLst>
      <p:ext uri="{BB962C8B-B14F-4D97-AF65-F5344CB8AC3E}">
        <p14:creationId xmlns:p14="http://schemas.microsoft.com/office/powerpoint/2010/main" val="35353816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51F93-D44B-5FDC-8AA7-556551188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37674"/>
            <a:ext cx="10515600" cy="55392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3. Strengthen Complaint Handling for Referrals</a:t>
            </a:r>
          </a:p>
          <a:p>
            <a:pPr lvl="1"/>
            <a:r>
              <a:rPr lang="en-GB" dirty="0"/>
              <a:t>Treat referral cases as high-priority</a:t>
            </a:r>
          </a:p>
          <a:p>
            <a:pPr lvl="1"/>
            <a:r>
              <a:rPr lang="en-GB" dirty="0"/>
              <a:t>Assign experienced agents</a:t>
            </a:r>
            <a:br>
              <a:rPr lang="en-GB" dirty="0"/>
            </a:br>
            <a:endParaRPr lang="en-GB" dirty="0"/>
          </a:p>
          <a:p>
            <a:pPr marL="0" indent="0">
              <a:buNone/>
            </a:pPr>
            <a:r>
              <a:rPr lang="en-GB" b="1" dirty="0"/>
              <a:t>4. Improve Data Quality</a:t>
            </a:r>
          </a:p>
          <a:p>
            <a:pPr lvl="1"/>
            <a:r>
              <a:rPr lang="en-GB" dirty="0"/>
              <a:t>Make dispute status mandatory</a:t>
            </a:r>
          </a:p>
          <a:p>
            <a:pPr lvl="1"/>
            <a:r>
              <a:rPr lang="en-GB" dirty="0"/>
              <a:t>Clean and standardize missing values</a:t>
            </a:r>
            <a:br>
              <a:rPr lang="en-GB" dirty="0"/>
            </a:br>
            <a:endParaRPr lang="en-GB" dirty="0"/>
          </a:p>
          <a:p>
            <a:pPr marL="0" indent="0">
              <a:buNone/>
            </a:pPr>
            <a:r>
              <a:rPr lang="en-GB" b="1" dirty="0"/>
              <a:t>5. Enhance Digital Support (Web Channel)</a:t>
            </a:r>
          </a:p>
          <a:p>
            <a:pPr lvl="1"/>
            <a:r>
              <a:rPr lang="en-GB" dirty="0"/>
              <a:t>Improve self-service tools</a:t>
            </a:r>
          </a:p>
          <a:p>
            <a:pPr lvl="1"/>
            <a:r>
              <a:rPr lang="en-GB" dirty="0"/>
              <a:t>Introduce smarter complaint triaging</a:t>
            </a:r>
          </a:p>
        </p:txBody>
      </p:sp>
    </p:spTree>
    <p:extLst>
      <p:ext uri="{BB962C8B-B14F-4D97-AF65-F5344CB8AC3E}">
        <p14:creationId xmlns:p14="http://schemas.microsoft.com/office/powerpoint/2010/main" val="178442603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AF07A-1725-35CD-47BA-672F731EC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Business Impact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1CD4D-45D3-4F2F-5EC8-FD0A76E47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If implemented, Cumulus Financial can expect:</a:t>
            </a:r>
          </a:p>
          <a:p>
            <a:pPr marL="0" indent="0">
              <a:buNone/>
            </a:pPr>
            <a:endParaRPr lang="en-GB" dirty="0"/>
          </a:p>
          <a:p>
            <a:pPr lvl="1"/>
            <a:r>
              <a:rPr lang="en-GB" dirty="0"/>
              <a:t>Reduced dispute rates</a:t>
            </a:r>
          </a:p>
          <a:p>
            <a:pPr lvl="1"/>
            <a:r>
              <a:rPr lang="en-GB" dirty="0"/>
              <a:t>Improved customer satisfaction</a:t>
            </a:r>
          </a:p>
          <a:p>
            <a:pPr lvl="1"/>
            <a:r>
              <a:rPr lang="en-GB" dirty="0"/>
              <a:t>Faster and more effective resolutions</a:t>
            </a:r>
          </a:p>
          <a:p>
            <a:pPr lvl="1"/>
            <a:r>
              <a:rPr lang="en-GB" dirty="0"/>
              <a:t>Better allocation of support resources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Improving how complaints are resolved will have a greater impact on customer satisfaction than simply responding faster.</a:t>
            </a:r>
          </a:p>
        </p:txBody>
      </p:sp>
    </p:spTree>
    <p:extLst>
      <p:ext uri="{BB962C8B-B14F-4D97-AF65-F5344CB8AC3E}">
        <p14:creationId xmlns:p14="http://schemas.microsoft.com/office/powerpoint/2010/main" val="297095949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DE830-D669-BD0A-F32E-BD36749B3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9392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G" sz="8000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5049275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21</TotalTime>
  <Words>452</Words>
  <Application>Microsoft Macintosh PowerPoint</Application>
  <PresentationFormat>Widescreen</PresentationFormat>
  <Paragraphs>93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Gill Sans MT</vt:lpstr>
      <vt:lpstr>Parcel</vt:lpstr>
      <vt:lpstr>Financial Consumer Complaints Analysis</vt:lpstr>
      <vt:lpstr>Objective</vt:lpstr>
      <vt:lpstr>Dataset Overview</vt:lpstr>
      <vt:lpstr>Dashboard Overview</vt:lpstr>
      <vt:lpstr>Complaint Trends Over Time</vt:lpstr>
      <vt:lpstr>High-Complaint Products</vt:lpstr>
      <vt:lpstr>Top Customer Issues</vt:lpstr>
      <vt:lpstr>Resolution Performance</vt:lpstr>
      <vt:lpstr>Response Type vs Disputes</vt:lpstr>
      <vt:lpstr>Channel Insights</vt:lpstr>
      <vt:lpstr>Key Problem Areas</vt:lpstr>
      <vt:lpstr>Recommendations</vt:lpstr>
      <vt:lpstr>PowerPoint Presentation</vt:lpstr>
      <vt:lpstr>Business Impact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Patricia Mugabe</dc:creator>
  <cp:lastModifiedBy>Patricia Mugabe</cp:lastModifiedBy>
  <cp:revision>1</cp:revision>
  <dcterms:created xsi:type="dcterms:W3CDTF">2026-04-25T05:14:33Z</dcterms:created>
  <dcterms:modified xsi:type="dcterms:W3CDTF">2026-04-25T05:36:05Z</dcterms:modified>
</cp:coreProperties>
</file>